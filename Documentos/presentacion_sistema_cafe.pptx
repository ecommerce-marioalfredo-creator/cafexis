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4" r:id="rId2"/>
    <p:sldId id="297" r:id="rId3"/>
    <p:sldId id="312" r:id="rId4"/>
    <p:sldId id="309" r:id="rId5"/>
    <p:sldId id="304" r:id="rId6"/>
    <p:sldId id="305" r:id="rId7"/>
    <p:sldId id="310" r:id="rId8"/>
    <p:sldId id="31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27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736600" y="3429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plataforma para el mundo del café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6600" y="4191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85A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Gestión, ventas y trazabilidad en un solo lugar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6600" y="4953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3DF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Presentación introductoria para personas interesadas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31520" y="5740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3DF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Plataforma Web  ·  Aplicación Android  ·  Aplicación iOS</a:t>
            </a:r>
            <a:endParaRPr lang="en-US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1B6A3B-AAA8-D049-1A5B-9DD7240A3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58800"/>
            <a:ext cx="2794000" cy="2350161"/>
          </a:xfrm>
          <a:prstGeom prst="roundRect">
            <a:avLst>
              <a:gd name="adj" fmla="val 19375"/>
            </a:avLst>
          </a:prstGeom>
          <a:ln w="19050">
            <a:solidFill>
              <a:srgbClr val="1D9E75"/>
            </a:solidFill>
          </a:ln>
        </p:spPr>
      </p:pic>
    </p:spTree>
    <p:extLst>
      <p:ext uri="{BB962C8B-B14F-4D97-AF65-F5344CB8AC3E}">
        <p14:creationId xmlns:p14="http://schemas.microsoft.com/office/powerpoint/2010/main" val="173480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89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es el sistema?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plataforma pensada para negocios relacionados con el café: cafeterías que preparan y venden bebidas, y negocios que venden café en grano o molido. Desde un mismo sistema, cada negocio gestiona sus ventas, su inventario, sus proveedores y la relación con sus clientes.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685800" cy="68580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icons/boxes_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2691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4069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sistema, todo integrado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00200" y="4434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Ventas, inventario y proveedores en un solo lugar.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12064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731520" y="5257800"/>
            <a:ext cx="685800" cy="68580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 1" descr="icons/globe_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541210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5212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Disponible en todas partes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00200" y="5577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Acceso desde computador, Android e iPhone.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766560" y="1371600"/>
            <a:ext cx="4846320" cy="4617720"/>
          </a:xfrm>
          <a:prstGeom prst="roundRect">
            <a:avLst>
              <a:gd name="adj" fmla="val 2376"/>
            </a:avLst>
          </a:prstGeom>
          <a:solidFill>
            <a:srgbClr val="2C2C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8732520" y="1691640"/>
            <a:ext cx="822960" cy="82296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2" descr="icons/coffee_b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7686" y="187680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25786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Café en grano y molido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680960" y="3063240"/>
            <a:ext cx="3200400" cy="0"/>
          </a:xfrm>
          <a:prstGeom prst="line">
            <a:avLst/>
          </a:prstGeom>
          <a:noFill/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8732520" y="3246120"/>
            <a:ext cx="822960" cy="82296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3" descr="icons/clipboard_br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7686" y="3431286"/>
            <a:ext cx="452628" cy="4526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0" y="41330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Cafeterías y bebidas preparadas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680960" y="4617720"/>
            <a:ext cx="3200400" cy="0"/>
          </a:xfrm>
          <a:prstGeom prst="line">
            <a:avLst/>
          </a:prstGeom>
          <a:noFill/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7"/>
          <p:cNvSpPr/>
          <p:nvPr/>
        </p:nvSpPr>
        <p:spPr>
          <a:xfrm>
            <a:off x="7040880" y="4800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3DF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experiencia para cada tipo de cliente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Cafexis · Sistema de gestión y ventas para café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4183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1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9F9B0E49-9C03-C41A-8821-50420E5011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330200"/>
            <a:ext cx="1016000" cy="8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5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89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tipos de negocio pueden usarlo?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89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sistema se adapta a la forma particular en que cada negocio trabaja.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8760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icons/stor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" y="21511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57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Cafeterías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0784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7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Recetas e ingredientes de cada bebida</a:t>
            </a:r>
            <a:endParaRPr lang="en-US" sz="2000" dirty="0"/>
          </a:p>
          <a:p>
            <a:pPr marL="342900" indent="-342900">
              <a:spcBef>
                <a:spcPts val="7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 de inventario por consumo</a:t>
            </a:r>
            <a:endParaRPr lang="en-US" sz="2000" dirty="0"/>
          </a:p>
          <a:p>
            <a:pPr marL="342900" indent="-342900">
              <a:spcBef>
                <a:spcPts val="7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Seguimiento del estado de cada pedido</a:t>
            </a:r>
            <a:endParaRPr lang="en-US" sz="2000" dirty="0"/>
          </a:p>
          <a:p>
            <a:pPr marL="342900" indent="-342900">
              <a:spcBef>
                <a:spcPts val="7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Pedido y pago desde la mesa o con mesero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486400" cy="38760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629400" y="1965960"/>
            <a:ext cx="822960" cy="82296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 1" descr="icons/leaf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566" y="215112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057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 de café en grano o molido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30784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7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 de lotes con proceso y variedad</a:t>
            </a:r>
            <a:endParaRPr lang="en-US" sz="2000" dirty="0"/>
          </a:p>
          <a:p>
            <a:pPr marL="342900" indent="-342900">
              <a:spcBef>
                <a:spcPts val="7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Trazabilidad de origen, hasta la finca</a:t>
            </a:r>
            <a:endParaRPr lang="en-US" sz="2000" dirty="0"/>
          </a:p>
          <a:p>
            <a:pPr marL="342900" indent="-342900">
              <a:spcBef>
                <a:spcPts val="7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Catálogo de productos para el cliente</a:t>
            </a:r>
            <a:endParaRPr lang="en-US" sz="2000" dirty="0"/>
          </a:p>
          <a:p>
            <a:pPr marL="342900" indent="-342900">
              <a:spcBef>
                <a:spcPts val="7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Historial de compras y pedidos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6074516"/>
            <a:ext cx="11064240" cy="692044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731520" y="6074516"/>
            <a:ext cx="10698480" cy="69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Las categorías de negocio pueden combinarse; un mismo cliente puede operar ambos modelos a la vez.</a:t>
            </a: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D45B464-8EE4-2305-7EA3-08712936F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330200"/>
            <a:ext cx="1016000" cy="8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91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89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¿Quién usa el sistema?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89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persona accede solo a lo que necesita para su labor.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5" name="Shape 3"/>
          <p:cNvSpPr/>
          <p:nvPr/>
        </p:nvSpPr>
        <p:spPr>
          <a:xfrm>
            <a:off x="777240" y="1883664"/>
            <a:ext cx="731520" cy="7315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pic>
        <p:nvPicPr>
          <p:cNvPr id="6" name="Image 0" descr="icons/usershiel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4825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Supervisor técnico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120640" y="182880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Acceso completo. Soporte interno y de nuestro equipo para casos avanzados.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90779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10" name="Shape 7"/>
          <p:cNvSpPr/>
          <p:nvPr/>
        </p:nvSpPr>
        <p:spPr>
          <a:xfrm>
            <a:off x="777240" y="3054096"/>
            <a:ext cx="731520" cy="7315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pic>
        <p:nvPicPr>
          <p:cNvPr id="11" name="Image 1" descr="icons/userco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21868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99923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Administrador / Dueño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120640" y="299923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Gestiona productos, inventario, proveedores, precios y reportes.</a:t>
            </a:r>
          </a:p>
        </p:txBody>
      </p:sp>
      <p:sp>
        <p:nvSpPr>
          <p:cNvPr id="14" name="Shape 10"/>
          <p:cNvSpPr/>
          <p:nvPr/>
        </p:nvSpPr>
        <p:spPr>
          <a:xfrm>
            <a:off x="548640" y="407822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15" name="Shape 11"/>
          <p:cNvSpPr/>
          <p:nvPr/>
        </p:nvSpPr>
        <p:spPr>
          <a:xfrm>
            <a:off x="777240" y="4224528"/>
            <a:ext cx="731520" cy="7315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pic>
        <p:nvPicPr>
          <p:cNvPr id="16" name="Image 2" descr="icons/userti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38912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6966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Barista / Vendedor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120640" y="4169664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 recetas e ingredientes necesarios para preparar cada pedido.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524865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0" name="Shape 15"/>
          <p:cNvSpPr/>
          <p:nvPr/>
        </p:nvSpPr>
        <p:spPr>
          <a:xfrm>
            <a:off x="777240" y="5394960"/>
            <a:ext cx="731520" cy="7315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pic>
        <p:nvPicPr>
          <p:cNvPr id="21" name="Image 3" descr="icons/userfriends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55955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34009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 final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120640" y="534009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 productos, realiza compras o pedidos y consulta su historial.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Cafexis · Sistema de gestión y ventas para café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4183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1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BCEC67CE-44D9-29F9-44B0-317439D13C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330200"/>
            <a:ext cx="1016000" cy="8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8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Así podría verse la aplicación móvil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1EF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cliente ve el menú o catálogo, arma su pedido o compra, y sigue el estado de su orden en tiempo real desde su celular.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800"/>
          </a:p>
        </p:txBody>
      </p:sp>
      <p:pic>
        <p:nvPicPr>
          <p:cNvPr id="5" name="Image 0" descr="icons/leaf_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90207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7889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Catálogo de productos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800"/>
          </a:p>
        </p:txBody>
      </p:sp>
      <p:pic>
        <p:nvPicPr>
          <p:cNvPr id="8" name="Image 1" descr="icons/clipboard_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3560445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4472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Carrito y pedido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48640" y="4105656"/>
            <a:ext cx="502920" cy="5029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800"/>
          </a:p>
        </p:txBody>
      </p:sp>
      <p:pic>
        <p:nvPicPr>
          <p:cNvPr id="11" name="Image 2" descr="icons/card_b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4218813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10565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Pago dentro de la app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548640" y="4764024"/>
            <a:ext cx="502920" cy="5029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800"/>
          </a:p>
        </p:txBody>
      </p:sp>
      <p:pic>
        <p:nvPicPr>
          <p:cNvPr id="14" name="Image 3" descr="icons/bell_br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" y="4877181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76402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Estado del pedido en vivo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7699248" y="704088"/>
            <a:ext cx="3438144" cy="5495544"/>
          </a:xfrm>
          <a:prstGeom prst="roundRect">
            <a:avLst>
              <a:gd name="adj" fmla="val 9309"/>
            </a:avLst>
          </a:prstGeom>
          <a:solidFill>
            <a:srgbClr val="1F131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1"/>
          <p:cNvSpPr/>
          <p:nvPr/>
        </p:nvSpPr>
        <p:spPr>
          <a:xfrm>
            <a:off x="7772400" y="777240"/>
            <a:ext cx="3291840" cy="53492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2"/>
          <p:cNvSpPr/>
          <p:nvPr/>
        </p:nvSpPr>
        <p:spPr>
          <a:xfrm>
            <a:off x="7772400" y="777240"/>
            <a:ext cx="3291840" cy="6858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19" name="Text 13"/>
          <p:cNvSpPr/>
          <p:nvPr/>
        </p:nvSpPr>
        <p:spPr>
          <a:xfrm>
            <a:off x="8001000" y="914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 Cafetería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7973568" y="1691640"/>
            <a:ext cx="28895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1" name="Shape 15"/>
          <p:cNvSpPr/>
          <p:nvPr/>
        </p:nvSpPr>
        <p:spPr>
          <a:xfrm>
            <a:off x="8092440" y="182880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sp>
        <p:nvSpPr>
          <p:cNvPr id="22" name="Text 16"/>
          <p:cNvSpPr/>
          <p:nvPr/>
        </p:nvSpPr>
        <p:spPr>
          <a:xfrm>
            <a:off x="8823960" y="1810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Latte vainilla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82396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$9.500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973568" y="2715768"/>
            <a:ext cx="28895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5" name="Shape 19"/>
          <p:cNvSpPr/>
          <p:nvPr/>
        </p:nvSpPr>
        <p:spPr>
          <a:xfrm>
            <a:off x="8092440" y="2852928"/>
            <a:ext cx="594360" cy="594360"/>
          </a:xfrm>
          <a:prstGeom prst="roundRect">
            <a:avLst>
              <a:gd name="adj" fmla="val 9231"/>
            </a:avLst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sp>
        <p:nvSpPr>
          <p:cNvPr id="26" name="Text 20"/>
          <p:cNvSpPr/>
          <p:nvPr/>
        </p:nvSpPr>
        <p:spPr>
          <a:xfrm>
            <a:off x="88239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Café de origen · Huila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82396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$32.000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973568" y="3739896"/>
            <a:ext cx="28895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9" name="Shape 23"/>
          <p:cNvSpPr/>
          <p:nvPr/>
        </p:nvSpPr>
        <p:spPr>
          <a:xfrm>
            <a:off x="8092440" y="3877056"/>
            <a:ext cx="594360" cy="594360"/>
          </a:xfrm>
          <a:prstGeom prst="roundRect">
            <a:avLst>
              <a:gd name="adj" fmla="val 9231"/>
            </a:avLst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sp>
        <p:nvSpPr>
          <p:cNvPr id="30" name="Text 24"/>
          <p:cNvSpPr/>
          <p:nvPr/>
        </p:nvSpPr>
        <p:spPr>
          <a:xfrm>
            <a:off x="8823960" y="3858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Cold brew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82396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$8.000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973568" y="4837176"/>
            <a:ext cx="2889504" cy="566928"/>
          </a:xfrm>
          <a:prstGeom prst="roundRect">
            <a:avLst>
              <a:gd name="adj" fmla="val 48387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33" name="Text 27"/>
          <p:cNvSpPr/>
          <p:nvPr/>
        </p:nvSpPr>
        <p:spPr>
          <a:xfrm>
            <a:off x="7973568" y="4837176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Estado: En preparación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548640" y="606044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35" name="Text 29"/>
          <p:cNvSpPr/>
          <p:nvPr/>
        </p:nvSpPr>
        <p:spPr>
          <a:xfrm>
            <a:off x="731520" y="60604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Ejemplo ilustrativo. No representa el diseño final de la aplicación.</a:t>
            </a:r>
            <a:endParaRPr lang="en-US" sz="140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74115A1C-3E1E-5463-97D3-65C0910E6F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6000" y="457200"/>
            <a:ext cx="558800" cy="470032"/>
          </a:xfrm>
          <a:prstGeom prst="roundRect">
            <a:avLst>
              <a:gd name="adj" fmla="val 12000"/>
            </a:avLst>
          </a:prstGeom>
          <a:ln w="12700">
            <a:solidFill>
              <a:srgbClr val="1D9E75"/>
            </a:solidFill>
          </a:ln>
        </p:spPr>
      </p:pic>
    </p:spTree>
    <p:extLst>
      <p:ext uri="{BB962C8B-B14F-4D97-AF65-F5344CB8AC3E}">
        <p14:creationId xmlns:p14="http://schemas.microsoft.com/office/powerpoint/2010/main" val="373784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89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Así podría verse el panel del negocio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89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Pensado para computador: resumen del día, alertas e inventario, de un vistazo.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434840"/>
          </a:xfrm>
          <a:prstGeom prst="roundRect">
            <a:avLst>
              <a:gd name="adj" fmla="val 2062"/>
            </a:avLst>
          </a:prstGeom>
          <a:solidFill>
            <a:srgbClr val="FAF9F6"/>
          </a:solidFill>
          <a:ln w="12700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solidFill>
            <a:srgbClr val="2C2C2A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402336" cy="402336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pic>
        <p:nvPicPr>
          <p:cNvPr id="7" name="Image 0" descr="icons/coffee_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17080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Panel del negocio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3317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10" name="Shape 7"/>
          <p:cNvSpPr/>
          <p:nvPr/>
        </p:nvSpPr>
        <p:spPr>
          <a:xfrm>
            <a:off x="1051560" y="2514600"/>
            <a:ext cx="502920" cy="5029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pic>
        <p:nvPicPr>
          <p:cNvPr id="11" name="Image 1" descr="icons/char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717" y="26277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Ventas de hoy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73736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$1.240.000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480560" y="23317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15" name="Shape 11"/>
          <p:cNvSpPr/>
          <p:nvPr/>
        </p:nvSpPr>
        <p:spPr>
          <a:xfrm>
            <a:off x="4663440" y="2514600"/>
            <a:ext cx="502920" cy="5029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pic>
        <p:nvPicPr>
          <p:cNvPr id="16" name="Image 2" descr="icons/boxe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597" y="262775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Pedidos activos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34924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8092440" y="23317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0" name="Shape 15"/>
          <p:cNvSpPr/>
          <p:nvPr/>
        </p:nvSpPr>
        <p:spPr>
          <a:xfrm>
            <a:off x="8275320" y="2514600"/>
            <a:ext cx="502920" cy="50292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400"/>
          </a:p>
        </p:txBody>
      </p:sp>
      <p:pic>
        <p:nvPicPr>
          <p:cNvPr id="21" name="Image 3" descr="icons/bell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477" y="262775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Alertas de inventario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96112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68680" y="3703320"/>
            <a:ext cx="6309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5" name="Text 19"/>
          <p:cNvSpPr/>
          <p:nvPr/>
        </p:nvSpPr>
        <p:spPr>
          <a:xfrm>
            <a:off x="1051560" y="3794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Bebidas más vendidas esta semana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1188720" y="4892040"/>
            <a:ext cx="777240" cy="457200"/>
          </a:xfrm>
          <a:prstGeom prst="roundRect">
            <a:avLst>
              <a:gd name="adj" fmla="val 6000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7" name="Shape 21"/>
          <p:cNvSpPr/>
          <p:nvPr/>
        </p:nvSpPr>
        <p:spPr>
          <a:xfrm>
            <a:off x="2240280" y="4526280"/>
            <a:ext cx="777240" cy="822960"/>
          </a:xfrm>
          <a:prstGeom prst="roundRect">
            <a:avLst>
              <a:gd name="adj" fmla="val 3529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8" name="Shape 22"/>
          <p:cNvSpPr/>
          <p:nvPr/>
        </p:nvSpPr>
        <p:spPr>
          <a:xfrm>
            <a:off x="3291840" y="4709160"/>
            <a:ext cx="777240" cy="640080"/>
          </a:xfrm>
          <a:prstGeom prst="roundRect">
            <a:avLst>
              <a:gd name="adj" fmla="val 4286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29" name="Shape 23"/>
          <p:cNvSpPr/>
          <p:nvPr/>
        </p:nvSpPr>
        <p:spPr>
          <a:xfrm>
            <a:off x="4343400" y="4343400"/>
            <a:ext cx="777240" cy="1005840"/>
          </a:xfrm>
          <a:prstGeom prst="roundRect">
            <a:avLst>
              <a:gd name="adj" fmla="val 3529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30" name="Shape 24"/>
          <p:cNvSpPr/>
          <p:nvPr/>
        </p:nvSpPr>
        <p:spPr>
          <a:xfrm>
            <a:off x="5394960" y="480060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31" name="Shape 25"/>
          <p:cNvSpPr/>
          <p:nvPr/>
        </p:nvSpPr>
        <p:spPr>
          <a:xfrm>
            <a:off x="7406640" y="370332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400"/>
          </a:p>
        </p:txBody>
      </p:sp>
      <p:sp>
        <p:nvSpPr>
          <p:cNvPr id="32" name="Text 26"/>
          <p:cNvSpPr/>
          <p:nvPr/>
        </p:nvSpPr>
        <p:spPr>
          <a:xfrm>
            <a:off x="758952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Alertas de inventario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589520" y="4206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Leche entera: quedan 3 litros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589520" y="4590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Café Huila: quedan 2 kg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589520" y="49743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Vasos 12oz: quedan 40 uds.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8640" y="61722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CO" sz="3200"/>
          </a:p>
        </p:txBody>
      </p:sp>
      <p:sp>
        <p:nvSpPr>
          <p:cNvPr id="37" name="Text 31"/>
          <p:cNvSpPr/>
          <p:nvPr/>
        </p:nvSpPr>
        <p:spPr>
          <a:xfrm>
            <a:off x="731520" y="61722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Ejemplo ilustrativo. No representa el diseño final del panel del negocio.</a:t>
            </a:r>
            <a:endParaRPr lang="en-US" sz="1400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094AA9A1-F985-590F-10A0-CFC82BA03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330200"/>
            <a:ext cx="1016000" cy="8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12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89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Funcionalidades destacadas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00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000"/>
          </a:p>
        </p:txBody>
      </p:sp>
      <p:pic>
        <p:nvPicPr>
          <p:cNvPr id="5" name="Image 0" descr="icons/qrcod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204939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7680" y="1947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Trazabilidad con código QR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7178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cliente conoce el origen del café: proceso, variedad y hasta la finca.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000"/>
          </a:p>
        </p:txBody>
      </p:sp>
      <p:sp>
        <p:nvSpPr>
          <p:cNvPr id="9" name="Shape 6"/>
          <p:cNvSpPr/>
          <p:nvPr/>
        </p:nvSpPr>
        <p:spPr>
          <a:xfrm>
            <a:off x="6583680" y="1874520"/>
            <a:ext cx="777240" cy="77724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000"/>
          </a:p>
        </p:txBody>
      </p:sp>
      <p:pic>
        <p:nvPicPr>
          <p:cNvPr id="10" name="Image 1" descr="icons/card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559" y="2049399"/>
            <a:ext cx="427482" cy="4274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18400" y="1947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Múltiples formas de pago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29400" y="26873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Efectivo, tarjeta, transferencias y billeteras digitales.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000"/>
          </a:p>
        </p:txBody>
      </p:sp>
      <p:sp>
        <p:nvSpPr>
          <p:cNvPr id="14" name="Shape 10"/>
          <p:cNvSpPr/>
          <p:nvPr/>
        </p:nvSpPr>
        <p:spPr>
          <a:xfrm>
            <a:off x="822960" y="4251960"/>
            <a:ext cx="777240" cy="77724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000"/>
          </a:p>
        </p:txBody>
      </p:sp>
      <p:pic>
        <p:nvPicPr>
          <p:cNvPr id="15" name="Image 2" descr="icons/handshak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839" y="4426839"/>
            <a:ext cx="427482" cy="4274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57680" y="43251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Proveedores compartidos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8680" y="50444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de proveedores reutilizable entre negocios, sin duplicar datos.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09360" y="3977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 sz="2000"/>
          </a:p>
        </p:txBody>
      </p:sp>
      <p:sp>
        <p:nvSpPr>
          <p:cNvPr id="19" name="Shape 14"/>
          <p:cNvSpPr/>
          <p:nvPr/>
        </p:nvSpPr>
        <p:spPr>
          <a:xfrm>
            <a:off x="6583680" y="4251960"/>
            <a:ext cx="777240" cy="77724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 sz="2000"/>
          </a:p>
        </p:txBody>
      </p:sp>
      <p:pic>
        <p:nvPicPr>
          <p:cNvPr id="20" name="Image 3" descr="icons/chart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559" y="4426839"/>
            <a:ext cx="427482" cy="4274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18400" y="43251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Reportes a la medida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629400" y="50241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dirty="0">
                <a:solidFill>
                  <a:srgbClr val="2C2C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Reportes predefinidos y personalizados por negocio.</a:t>
            </a:r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Cafexis · Sistema de gestión y ventas para café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18320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574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11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5A5036C8-439A-A189-D80D-26A04752A0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330200"/>
            <a:ext cx="1016000" cy="8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6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058400" y="4754880"/>
            <a:ext cx="3474720" cy="34747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2184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Disponible donde tu negocio lo necesite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80360" y="3051810"/>
            <a:ext cx="1051560" cy="105156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icons/globe_b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3314700"/>
            <a:ext cx="525780" cy="52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24053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Plataforma Web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3051810"/>
            <a:ext cx="1051560" cy="105156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1" descr="icons/android_b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170" y="3314700"/>
            <a:ext cx="525780" cy="5257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24053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Aplicación Android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458200" y="3051810"/>
            <a:ext cx="1051560" cy="1051560"/>
          </a:xfrm>
          <a:prstGeom prst="ellipse">
            <a:avLst/>
          </a:prstGeom>
          <a:solidFill>
            <a:srgbClr val="F1EFE8"/>
          </a:solidFill>
          <a:ln w="28575">
            <a:solidFill>
              <a:srgbClr val="1D9E75"/>
            </a:solidFill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icons/apple_br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090" y="3314700"/>
            <a:ext cx="525780" cy="5257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09560" y="424053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Aplicación iOS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31520" y="51816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85A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Gracias por tu interés en el proyecto</a:t>
            </a:r>
            <a:endParaRPr lang="en-US" sz="28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541D47A-9E51-0475-EF70-F828840BF0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9550" y="418624"/>
            <a:ext cx="1524000" cy="1281906"/>
          </a:xfrm>
          <a:prstGeom prst="roundRect">
            <a:avLst>
              <a:gd name="adj" fmla="val 19303"/>
            </a:avLst>
          </a:prstGeom>
          <a:ln w="19050">
            <a:solidFill>
              <a:srgbClr val="1D9E75"/>
            </a:solidFill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24DDABF-B41D-471E-B604-A136F389AF04}"/>
              </a:ext>
            </a:extLst>
          </p:cNvPr>
          <p:cNvSpPr txBox="1"/>
          <p:nvPr/>
        </p:nvSpPr>
        <p:spPr>
          <a:xfrm>
            <a:off x="736600" y="5740400"/>
            <a:ext cx="106934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es-CO" sz="1600" dirty="0">
                <a:solidFill>
                  <a:srgbClr val="E3DFD5"/>
                </a:solidFill>
                <a:latin typeface="Manrope"/>
              </a:rPr>
              <a:t>Con gusto resolvemos cualquier pregunta adicional.</a:t>
            </a:r>
          </a:p>
        </p:txBody>
      </p:sp>
    </p:spTree>
    <p:extLst>
      <p:ext uri="{BB962C8B-B14F-4D97-AF65-F5344CB8AC3E}">
        <p14:creationId xmlns:p14="http://schemas.microsoft.com/office/powerpoint/2010/main" val="2238701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D7EA64-7EF6-438B-BA39-3ADAC4426EA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1840852-df5b-4eab-bc86-5bd6b8000a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585</Words>
  <Application>Microsoft Office PowerPoint</Application>
  <PresentationFormat>Panorámica</PresentationFormat>
  <Paragraphs>95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Manrope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2026-09-07T21:59:10Z</dcterms:created>
  <dcterms:modified xsi:type="dcterms:W3CDTF">2026-09-15T15:24:50Z</dcterms:modified>
</cp:coreProperties>
</file>